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7" r:id="rId9"/>
    <p:sldId id="299" r:id="rId10"/>
    <p:sldId id="301" r:id="rId11"/>
    <p:sldId id="302" r:id="rId12"/>
    <p:sldId id="303" r:id="rId13"/>
    <p:sldId id="310"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53BCF1-F358-4A03-B28E-79A3B4F62077}" v="1004" dt="2026-09-10T04:20:52.731"/>
    <p1510:client id="{868DE472-08B0-4D70-856D-47F4D758B10F}" v="20" dt="2026-09-10T04:33:27.2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a:t>
            </a:r>
            <a:r>
              <a:rPr lang="en-US" dirty="0"/>
              <a:t>Automated Medical Insurance Claim Denial &amp; Appeals Agent</a:t>
            </a:r>
            <a:r>
              <a:rPr lang="en-US" b="1" i="1" dirty="0"/>
              <a:t>”</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1580989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sz="2000" dirty="0"/>
                    </a:p>
                    <a:p>
                      <a:pPr marL="0" marR="0" lvl="0" indent="0" algn="l">
                        <a:spcBef>
                          <a:spcPts val="0"/>
                        </a:spcBef>
                        <a:spcAft>
                          <a:spcPts val="0"/>
                        </a:spcAft>
                        <a:buNone/>
                      </a:pPr>
                      <a:r>
                        <a:rPr lang="en-US" sz="2000" dirty="0"/>
                        <a:t> ANKIT GUPTA</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2000" dirty="0"/>
                    </a:p>
                    <a:p>
                      <a:pPr marL="0" marR="0" lvl="0" indent="0" algn="l">
                        <a:spcBef>
                          <a:spcPts val="0"/>
                        </a:spcBef>
                        <a:spcAft>
                          <a:spcPts val="0"/>
                        </a:spcAft>
                        <a:buNone/>
                      </a:pPr>
                      <a:r>
                        <a:rPr lang="en-US" sz="2000" dirty="0"/>
                        <a:t>ankitguptaramnage@gmail.com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2400" dirty="0"/>
                    </a:p>
                    <a:p>
                      <a:pPr marL="0" marR="0" lvl="0" indent="0" algn="l">
                        <a:spcBef>
                          <a:spcPts val="0"/>
                        </a:spcBef>
                        <a:spcAft>
                          <a:spcPts val="0"/>
                        </a:spcAft>
                        <a:buNone/>
                      </a:pPr>
                      <a:r>
                        <a:rPr lang="en-US" sz="2400" dirty="0"/>
                        <a:t>9752111277</a:t>
                      </a:r>
                      <a:endParaRPr sz="2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srcRect/>
          <a:stretch/>
        </p:blipFill>
        <p:spPr>
          <a:xfrm>
            <a:off x="3938004" y="3686187"/>
            <a:ext cx="1006914" cy="992535"/>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lIns="91440" tIns="45720" rIns="91440" bIns="45720" rtlCol="0" anchor="t">
            <a:spAutoFit/>
          </a:bodyPr>
          <a:lstStyle/>
          <a:p>
            <a:r>
              <a:rPr lang="en-US" sz="2400" b="1" dirty="0"/>
              <a:t>Domain of  Project –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lIns="91440" tIns="45720" rIns="91440" bIns="45720" rtlCol="0" anchor="t">
            <a:spAutoFit/>
          </a:bodyPr>
          <a:lstStyle/>
          <a:p>
            <a:r>
              <a:rPr lang="en-US" sz="2400" b="1" dirty="0"/>
              <a:t>Project Tile – </a:t>
            </a:r>
            <a:r>
              <a:rPr lang="en-US" sz="2400" b="1" dirty="0">
                <a:highlight>
                  <a:srgbClr val="FFFF00"/>
                </a:highlight>
              </a:rPr>
              <a:t>[</a:t>
            </a:r>
            <a:r>
              <a:rPr lang="en-US" sz="2400" dirty="0">
                <a:highlight>
                  <a:srgbClr val="FFFF00"/>
                </a:highlight>
              </a:rPr>
              <a:t>Automated Medical Insurance Claim Denial &amp; Appeals Agent</a:t>
            </a:r>
            <a:r>
              <a:rPr lang="en-US" sz="2400" b="1" dirty="0">
                <a:highlight>
                  <a:srgbClr val="FFFF00"/>
                </a:highlight>
              </a:rPr>
              <a:t>]</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443207"/>
            <a:ext cx="10607040" cy="4770537"/>
          </a:xfrm>
          <a:prstGeom prst="rect">
            <a:avLst/>
          </a:prstGeom>
          <a:noFill/>
        </p:spPr>
        <p:txBody>
          <a:bodyPr wrap="square" lIns="91440" tIns="45720" rIns="91440" bIns="45720" rtlCol="0" anchor="t">
            <a:spAutoFit/>
          </a:bodyPr>
          <a:lstStyle/>
          <a:p>
            <a:pPr fontAlgn="base"/>
            <a:r>
              <a:rPr lang="en-US" sz="2000" b="1" dirty="0"/>
              <a:t>Problem Statement : </a:t>
            </a:r>
            <a:r>
              <a:rPr lang="en-US" sz="2400" b="1" dirty="0">
                <a:solidFill>
                  <a:schemeClr val="tx1"/>
                </a:solidFill>
                <a:latin typeface="Calibri"/>
                <a:ea typeface="Calibri"/>
                <a:cs typeface="Calibri"/>
              </a:rPr>
              <a:t>Automated Medical Insurance Claim Denial &amp; Appeals Agent</a:t>
            </a:r>
          </a:p>
          <a:p>
            <a:pPr fontAlgn="base"/>
            <a:endParaRPr lang="en-US" sz="2000" b="1" dirty="0"/>
          </a:p>
          <a:p>
            <a:r>
              <a:rPr lang="en-US" sz="2000" b="1" dirty="0"/>
              <a:t>The Challenge:</a:t>
            </a:r>
            <a:r>
              <a:rPr lang="en-US" sz="2000" dirty="0"/>
              <a:t> Healthcare administrators and patients lose billions annually to complex health insurance claim denials. Reviewing dense insurance policy rules, matching them to clinical charts, and drafting valid medical appeal letters manually is a slow, error-prone bureaucratic roadblock. Valid claims are frequently abandoned, causing massive revenue leaks for providers and unexpected out-of-pocket medical debt for patients.</a:t>
            </a:r>
          </a:p>
          <a:p>
            <a:endParaRPr lang="en-US" sz="2000" b="1" dirty="0"/>
          </a:p>
          <a:p>
            <a:r>
              <a:rPr lang="en-US" sz="2000" b="1" dirty="0"/>
              <a:t>The Objective</a:t>
            </a:r>
            <a:r>
              <a:rPr lang="en-US" sz="2000" dirty="0"/>
              <a:t> </a:t>
            </a:r>
          </a:p>
          <a:p>
            <a:pPr fontAlgn="base"/>
            <a:r>
              <a:rPr lang="en-US" sz="2000" dirty="0"/>
              <a:t>Build an AI-powered Multi-Agent Claim Denial &amp; Appeals Agent that automates the end-to-end audit, evidence gathering, and appeal generation pipeline using:</a:t>
            </a:r>
          </a:p>
          <a:p>
            <a:pPr marL="285750" indent="-285750" fontAlgn="base">
              <a:buFont typeface="Arial" panose="020B0604020202020204" pitchFamily="34" charset="0"/>
              <a:buChar char="•"/>
            </a:pPr>
            <a:r>
              <a:rPr lang="en-US" sz="2000" b="1" dirty="0"/>
              <a:t>Policy Audit Agent:</a:t>
            </a:r>
            <a:r>
              <a:rPr lang="en-US" sz="2000" dirty="0"/>
              <a:t> Identifies contractual rule violations from insurance denial codes.</a:t>
            </a:r>
          </a:p>
          <a:p>
            <a:pPr marL="285750" indent="-285750" fontAlgn="base">
              <a:buFont typeface="Arial" panose="020B0604020202020204" pitchFamily="34" charset="0"/>
              <a:buChar char="•"/>
            </a:pPr>
            <a:r>
              <a:rPr lang="en-US" sz="2000" b="1" dirty="0"/>
              <a:t>Clinical Data Agent:</a:t>
            </a:r>
            <a:r>
              <a:rPr lang="en-US" sz="2000" dirty="0"/>
              <a:t> Scans unstructured patient notes for supporting biometric evidence.</a:t>
            </a:r>
          </a:p>
          <a:p>
            <a:pPr marL="285750" indent="-285750">
              <a:buFont typeface="Arial" panose="020B0604020202020204" pitchFamily="34" charset="0"/>
              <a:buChar char="•"/>
            </a:pPr>
            <a:r>
              <a:rPr lang="en-US" sz="2000" b="1" dirty="0"/>
              <a:t>Appeal Strategy Agent:</a:t>
            </a:r>
            <a:r>
              <a:rPr lang="en-US" sz="2000" dirty="0"/>
              <a:t> Automatically formulates legally structured appeal documents with success probability metrics.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71810"/>
            <a:ext cx="10607040" cy="6617196"/>
          </a:xfrm>
          <a:prstGeom prst="rect">
            <a:avLst/>
          </a:prstGeom>
          <a:noFill/>
        </p:spPr>
        <p:txBody>
          <a:bodyPr wrap="square" lIns="91440" tIns="45720" rIns="91440" bIns="45720" rtlCol="0" anchor="t">
            <a:spAutoFit/>
          </a:bodyPr>
          <a:lstStyle/>
          <a:p>
            <a:pPr fontAlgn="base"/>
            <a:endParaRPr lang="en-US" sz="1800" b="1" dirty="0"/>
          </a:p>
          <a:p>
            <a:r>
              <a:rPr lang="en-US" sz="1800" b="1" dirty="0"/>
              <a:t>Proposed Solution: </a:t>
            </a:r>
            <a:r>
              <a:rPr lang="en-US" sz="1800" dirty="0"/>
              <a:t>Multi-Agent Appeals Automation</a:t>
            </a:r>
          </a:p>
          <a:p>
            <a:endParaRPr lang="en-US" sz="1800" dirty="0"/>
          </a:p>
          <a:p>
            <a:pPr marL="285750" indent="-285750">
              <a:buChar char="•"/>
            </a:pPr>
            <a:endParaRPr lang="en-US" sz="1800" dirty="0"/>
          </a:p>
          <a:p>
            <a:pPr marL="285750" indent="-285750">
              <a:buChar char="•"/>
            </a:pPr>
            <a:r>
              <a:rPr lang="en-US" sz="1800" dirty="0"/>
              <a:t>The proposed solution is an autonomous </a:t>
            </a:r>
            <a:r>
              <a:rPr lang="en-US" sz="1800" b="1" dirty="0"/>
              <a:t>Multi-Agent Enterprise Workspace</a:t>
            </a:r>
            <a:r>
              <a:rPr lang="en-US" sz="1800" dirty="0"/>
              <a:t> built using </a:t>
            </a:r>
            <a:r>
              <a:rPr lang="en-US" sz="1800" b="1" dirty="0"/>
              <a:t>IBM Bob</a:t>
            </a:r>
            <a:r>
              <a:rPr lang="en-US" sz="1800" dirty="0"/>
              <a:t>, </a:t>
            </a:r>
            <a:r>
              <a:rPr lang="en-US" sz="1800" b="1" dirty="0"/>
              <a:t>IBM watsonx.ai</a:t>
            </a:r>
            <a:r>
              <a:rPr lang="en-US" sz="1800" dirty="0"/>
              <a:t>, and </a:t>
            </a:r>
            <a:r>
              <a:rPr lang="en-US" sz="1800" b="1" dirty="0"/>
              <a:t>IBM Granite models</a:t>
            </a:r>
            <a:r>
              <a:rPr lang="en-US" sz="1800" dirty="0"/>
              <a:t> to dynamically parse, audit, and reverse health insurance denials.</a:t>
            </a:r>
          </a:p>
          <a:p>
            <a:pPr marL="285750" lvl="1" indent="-285750">
              <a:buChar char="•"/>
            </a:pPr>
            <a:endParaRPr lang="en-US" sz="1800" dirty="0"/>
          </a:p>
          <a:p>
            <a:pPr marL="285750" lvl="1" indent="-285750">
              <a:buChar char="•"/>
            </a:pPr>
            <a:r>
              <a:rPr lang="en-US" sz="1800" dirty="0"/>
              <a:t>Features a </a:t>
            </a:r>
            <a:r>
              <a:rPr lang="en-US" sz="1800" b="1" dirty="0"/>
              <a:t>Live Streaming Reasoning Console</a:t>
            </a:r>
            <a:r>
              <a:rPr lang="en-US" sz="1800" dirty="0"/>
              <a:t> that visually tracks the model's cognitive thought process and inter-agent coordination steps in real time before rendering results.</a:t>
            </a:r>
          </a:p>
          <a:p>
            <a:pPr marL="285750" lvl="1" indent="-285750">
              <a:buChar char="•"/>
            </a:pPr>
            <a:endParaRPr lang="en-US" sz="1800" dirty="0"/>
          </a:p>
          <a:p>
            <a:pPr marL="285750" lvl="1" indent="-285750">
              <a:buChar char="•"/>
            </a:pPr>
            <a:r>
              <a:rPr lang="en-US" sz="1800" dirty="0"/>
              <a:t>Integrates an </a:t>
            </a:r>
            <a:r>
              <a:rPr lang="en-US" sz="1800" b="1" dirty="0"/>
              <a:t>Interactive Medical AI Playground</a:t>
            </a:r>
            <a:r>
              <a:rPr lang="en-US" sz="1800" dirty="0"/>
              <a:t> that allows hospital administrators to chat directly with the underlying Granite LLM to query complex policy rules (</a:t>
            </a:r>
            <a:r>
              <a:rPr lang="en-US" sz="1800" dirty="0">
                <a:latin typeface="Consolas"/>
              </a:rPr>
              <a:t>insurance_policies.txt</a:t>
            </a:r>
            <a:r>
              <a:rPr lang="en-US" sz="1800" dirty="0"/>
              <a:t>) on the fly.</a:t>
            </a:r>
          </a:p>
          <a:p>
            <a:pPr marL="285750" lvl="1" indent="-285750">
              <a:buChar char="•"/>
            </a:pPr>
            <a:endParaRPr lang="en-US" sz="1800" dirty="0"/>
          </a:p>
          <a:p>
            <a:pPr marL="285750" lvl="1" indent="-285750">
              <a:buChar char="•"/>
            </a:pPr>
            <a:r>
              <a:rPr lang="en-US" sz="1800" dirty="0"/>
              <a:t>Includes a full </a:t>
            </a:r>
            <a:r>
              <a:rPr lang="en-US" sz="1800" b="1" dirty="0"/>
              <a:t>Data Admissions Desk</a:t>
            </a:r>
            <a:r>
              <a:rPr lang="en-US" sz="1800" dirty="0"/>
              <a:t> that allows hospital administrators to manually submit new case entries, append records to the active database file (</a:t>
            </a:r>
            <a:r>
              <a:rPr lang="en-US" sz="1800" dirty="0">
                <a:latin typeface="Consolas"/>
              </a:rPr>
              <a:t>denial_records.csv</a:t>
            </a:r>
            <a:r>
              <a:rPr lang="en-US" sz="1800" dirty="0"/>
              <a:t>), and scale the multi-agent processing pipeline dynamically.</a:t>
            </a:r>
          </a:p>
          <a:p>
            <a:pPr lvl="1"/>
            <a:br>
              <a:rPr lang="en-US" dirty="0"/>
            </a:br>
            <a:endParaRPr lang="en-US" sz="1800" dirty="0"/>
          </a:p>
          <a:p>
            <a:pPr lvl="1"/>
            <a:br>
              <a:rPr lang="en-US" dirty="0"/>
            </a:br>
            <a:endParaRPr lang="en-US" sz="1800" dirty="0"/>
          </a:p>
          <a:p>
            <a:endParaRPr lang="en-US" sz="1800" dirty="0"/>
          </a:p>
          <a:p>
            <a:endParaRPr lang="en-IN" sz="18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718488"/>
            <a:ext cx="10515600" cy="3477875"/>
          </a:xfrm>
          <a:prstGeom prst="rect">
            <a:avLst/>
          </a:prstGeom>
          <a:noFill/>
        </p:spPr>
        <p:txBody>
          <a:bodyPr wrap="square" lIns="91440" tIns="45720" rIns="91440" bIns="45720" rtlCol="0" anchor="t">
            <a:spAutoFit/>
          </a:bodyPr>
          <a:lstStyle/>
          <a:p>
            <a:pPr>
              <a:buFont typeface="Arial" panose="020B0604020202020204" pitchFamily="34" charset="0"/>
              <a:buChar char="•"/>
            </a:pPr>
            <a:r>
              <a:rPr lang="en-US" sz="2000" b="1" dirty="0"/>
              <a:t>IBM Bob </a:t>
            </a:r>
            <a:r>
              <a:rPr lang="en-US" sz="2000" b="1" dirty="0">
                <a:solidFill>
                  <a:schemeClr val="tx1"/>
                </a:solidFill>
              </a:rPr>
              <a:t>Platform:</a:t>
            </a:r>
            <a:r>
              <a:rPr lang="en-US" sz="2000" dirty="0">
                <a:solidFill>
                  <a:schemeClr val="tx1"/>
                </a:solidFill>
              </a:rPr>
              <a:t> For designing, testing, and generating modular file codebases autonomously.</a:t>
            </a:r>
            <a:endParaRPr lang="en-IN" sz="2000" dirty="0">
              <a:solidFill>
                <a:schemeClr val="tx1"/>
              </a:solidFill>
            </a:endParaRPr>
          </a:p>
          <a:p>
            <a:endParaRPr lang="en-US" sz="2000" dirty="0">
              <a:solidFill>
                <a:schemeClr val="tx1"/>
              </a:solidFill>
            </a:endParaRPr>
          </a:p>
          <a:p>
            <a:pPr>
              <a:buFont typeface="Arial" panose="020B0604020202020204" pitchFamily="34" charset="0"/>
              <a:buChar char="•"/>
            </a:pPr>
            <a:r>
              <a:rPr lang="en-US" sz="2000" b="1" dirty="0">
                <a:solidFill>
                  <a:schemeClr val="tx1"/>
                </a:solidFill>
              </a:rPr>
              <a:t>IBM Granite Model (</a:t>
            </a:r>
            <a:r>
              <a:rPr lang="en-US" sz="2000" b="1" dirty="0">
                <a:solidFill>
                  <a:schemeClr val="tx1"/>
                </a:solidFill>
                <a:latin typeface="Consolas"/>
              </a:rPr>
              <a:t>ibm-granite-3-2-8b</a:t>
            </a:r>
            <a:r>
              <a:rPr lang="en-US" sz="2000" b="1" dirty="0">
                <a:solidFill>
                  <a:schemeClr val="tx1"/>
                </a:solidFill>
              </a:rPr>
              <a:t>):</a:t>
            </a:r>
            <a:r>
              <a:rPr lang="en-US" sz="2000" dirty="0">
                <a:solidFill>
                  <a:schemeClr val="tx1"/>
                </a:solidFill>
              </a:rPr>
              <a:t> Powers deep natural language understanding, policy rule parsing, and legal brief synthesis.</a:t>
            </a:r>
            <a:endParaRPr lang="en-IN" sz="2000" dirty="0">
              <a:solidFill>
                <a:schemeClr val="tx1"/>
              </a:solidFill>
            </a:endParaRPr>
          </a:p>
          <a:p>
            <a:endParaRPr lang="en-US" sz="2000" dirty="0">
              <a:solidFill>
                <a:schemeClr val="tx1"/>
              </a:solidFill>
            </a:endParaRPr>
          </a:p>
          <a:p>
            <a:pPr>
              <a:buFont typeface="Arial" panose="020B0604020202020204" pitchFamily="34" charset="0"/>
              <a:buChar char="•"/>
            </a:pPr>
            <a:r>
              <a:rPr lang="en-US" sz="2000" b="1" dirty="0">
                <a:solidFill>
                  <a:schemeClr val="tx1"/>
                </a:solidFill>
              </a:rPr>
              <a:t>IBM watsonx.ai &amp; Cloud:</a:t>
            </a:r>
            <a:r>
              <a:rPr lang="en-US" sz="2000" dirty="0">
                <a:solidFill>
                  <a:schemeClr val="tx1"/>
                </a:solidFill>
              </a:rPr>
              <a:t> Provides enterprise-grade model execution infrastructure and structural data governance.</a:t>
            </a:r>
            <a:endParaRPr lang="en-IN" sz="2000" dirty="0">
              <a:solidFill>
                <a:schemeClr val="tx1"/>
              </a:solidFill>
            </a:endParaRPr>
          </a:p>
          <a:p>
            <a:pPr>
              <a:buFont typeface="Arial" panose="020B0604020202020204" pitchFamily="34" charset="0"/>
              <a:buChar char="•"/>
            </a:pPr>
            <a:endParaRPr lang="en-IN" sz="2000" dirty="0"/>
          </a:p>
          <a:p>
            <a:pPr>
              <a:buFont typeface="Arial" panose="020B0604020202020204" pitchFamily="34" charset="0"/>
              <a:buChar char="•"/>
            </a:pPr>
            <a:endParaRPr lang="en-US" sz="2000" b="1" dirty="0">
              <a:solidFill>
                <a:schemeClr val="tx1"/>
              </a:solidFill>
            </a:endParaRPr>
          </a:p>
          <a:p>
            <a:endParaRPr lang="en-IN" sz="2000"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001095"/>
          </a:xfrm>
          <a:prstGeom prst="rect">
            <a:avLst/>
          </a:prstGeom>
          <a:noFill/>
        </p:spPr>
        <p:txBody>
          <a:bodyPr wrap="square" lIns="91440" tIns="45720" rIns="91440" bIns="45720" rtlCol="0" anchor="t">
            <a:spAutoFit/>
          </a:bodyPr>
          <a:lstStyle/>
          <a:p>
            <a:pPr>
              <a:buFont typeface="+mj-lt"/>
              <a:buChar char="•"/>
            </a:pPr>
            <a:r>
              <a:rPr lang="en-IN" sz="2000" dirty="0">
                <a:latin typeface="Consolas"/>
              </a:rPr>
              <a:t>app.py</a:t>
            </a:r>
            <a:r>
              <a:rPr lang="en-IN" sz="2000" dirty="0"/>
              <a:t> </a:t>
            </a:r>
          </a:p>
          <a:p>
            <a:pPr>
              <a:buFont typeface="+mj-lt"/>
              <a:buChar char="•"/>
            </a:pPr>
            <a:endParaRPr lang="en-IN" sz="2000" dirty="0"/>
          </a:p>
          <a:p>
            <a:pPr>
              <a:buFont typeface="+mj-lt"/>
              <a:buChar char="•"/>
            </a:pPr>
            <a:r>
              <a:rPr lang="en-IN" sz="2000" dirty="0">
                <a:latin typeface="Consolas"/>
              </a:rPr>
              <a:t>data/denial_records.csv</a:t>
            </a:r>
            <a:endParaRPr lang="en-IN" sz="2000" dirty="0"/>
          </a:p>
          <a:p>
            <a:pPr>
              <a:buFont typeface="+mj-lt"/>
              <a:buChar char="•"/>
            </a:pPr>
            <a:endParaRPr lang="en-IN" sz="2000" dirty="0">
              <a:latin typeface="Consolas"/>
            </a:endParaRPr>
          </a:p>
          <a:p>
            <a:pPr>
              <a:buFont typeface="+mj-lt"/>
              <a:buChar char="•"/>
            </a:pPr>
            <a:r>
              <a:rPr lang="en-IN" sz="2000" dirty="0">
                <a:latin typeface="Consolas"/>
              </a:rPr>
              <a:t>data/insurance_policies.txt</a:t>
            </a:r>
            <a:endParaRPr lang="en-IN" sz="2000" dirty="0"/>
          </a:p>
          <a:p>
            <a:pPr>
              <a:buFont typeface="+mj-lt"/>
              <a:buChar char="•"/>
            </a:pPr>
            <a:endParaRPr lang="en-IN" sz="2000" dirty="0">
              <a:latin typeface="Consolas"/>
            </a:endParaRPr>
          </a:p>
          <a:p>
            <a:pPr>
              <a:buFont typeface="+mj-lt"/>
              <a:buChar char="•"/>
            </a:pPr>
            <a:r>
              <a:rPr lang="en-IN" sz="2000" dirty="0">
                <a:latin typeface="Consolas"/>
              </a:rPr>
              <a:t>templates/index.html</a:t>
            </a:r>
            <a:r>
              <a:rPr lang="en-IN" sz="2000" dirty="0"/>
              <a:t> </a:t>
            </a:r>
          </a:p>
          <a:p>
            <a:pPr>
              <a:buFont typeface="+mj-lt"/>
              <a:buChar char="•"/>
            </a:pPr>
            <a:endParaRPr lang="en-IN" sz="2000" dirty="0"/>
          </a:p>
          <a:p>
            <a:pPr>
              <a:buFont typeface="+mj-lt"/>
              <a:buChar char="•"/>
            </a:pPr>
            <a:r>
              <a:rPr lang="en-IN" sz="2000" dirty="0">
                <a:latin typeface="Consolas"/>
              </a:rPr>
              <a:t>Templates/skills.html</a:t>
            </a:r>
          </a:p>
          <a:p>
            <a:pPr>
              <a:buFont typeface="+mj-lt"/>
              <a:buChar char="•"/>
            </a:pPr>
            <a:endParaRPr lang="en-IN"/>
          </a:p>
          <a:p>
            <a:pPr>
              <a:buFont typeface="+mj-lt"/>
              <a:buChar char="•"/>
            </a:pPr>
            <a:r>
              <a:rPr lang="en-IN" sz="2000" dirty="0">
                <a:latin typeface="Consolas"/>
              </a:rPr>
              <a:t>config/</a:t>
            </a:r>
            <a:r>
              <a:rPr lang="en-IN" sz="2000" dirty="0" err="1">
                <a:latin typeface="Consolas"/>
              </a:rPr>
              <a:t>orchestrate_skill_schema.json</a:t>
            </a:r>
          </a:p>
          <a:p>
            <a:pPr>
              <a:buFont typeface="+mj-lt"/>
              <a:buChar char="•"/>
            </a:pPr>
            <a:endParaRPr lang="en-IN" sz="2000" dirty="0">
              <a:latin typeface="Consolas"/>
            </a:endParaRPr>
          </a:p>
          <a:p>
            <a:pPr>
              <a:buFont typeface="+mj-lt"/>
              <a:buChar char="•"/>
            </a:pPr>
            <a:r>
              <a:rPr lang="en-IN" sz="2000" dirty="0">
                <a:latin typeface="Consolas"/>
              </a:rPr>
              <a:t>requirements.txt</a:t>
            </a:r>
            <a:r>
              <a:rPr lang="en-IN" sz="2000" dirty="0"/>
              <a:t> &amp; </a:t>
            </a:r>
            <a:r>
              <a:rPr lang="en-IN" sz="2000" dirty="0">
                <a:latin typeface="Consolas"/>
              </a:rPr>
              <a:t>README.md</a:t>
            </a:r>
            <a:r>
              <a:rPr lang="en-IN" sz="2000" dirty="0"/>
              <a:t> </a:t>
            </a:r>
            <a:endParaRPr lang="en-IN"/>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5725536" y="1171574"/>
            <a:ext cx="6209806" cy="4596368"/>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rot="5400000">
            <a:off x="5445891" y="2066503"/>
            <a:ext cx="1993902" cy="964410"/>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9660000">
            <a:off x="6947289" y="1698025"/>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1376944"/>
            <a:ext cx="9217740" cy="4904279"/>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440995" y="442299"/>
            <a:ext cx="1076596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909310"/>
          </a:xfrm>
          <a:prstGeom prst="rect">
            <a:avLst/>
          </a:prstGeom>
          <a:noFill/>
        </p:spPr>
        <p:txBody>
          <a:bodyPr wrap="square" lIns="91440" tIns="45720" rIns="91440" bIns="45720" rtlCol="0" anchor="t">
            <a:spAutoFit/>
          </a:bodyPr>
          <a:lstStyle/>
          <a:p>
            <a:r>
              <a:rPr lang="en-US" b="1" dirty="0"/>
              <a:t>Autonomous Multi-Agent Orchestration</a:t>
            </a:r>
          </a:p>
          <a:p>
            <a:endParaRPr lang="en-US" b="1" dirty="0"/>
          </a:p>
          <a:p>
            <a:pPr marL="285750" indent="-285750">
              <a:buChar char="•"/>
            </a:pPr>
            <a:r>
              <a:rPr lang="en-US" b="1" dirty="0"/>
              <a:t>Decoupled Boundary Logic:</a:t>
            </a:r>
            <a:r>
              <a:rPr lang="en-US" dirty="0"/>
              <a:t> Converts a singular text generation loop into a cooperative network of specialized cognitive nodes working independently.</a:t>
            </a:r>
          </a:p>
          <a:p>
            <a:pPr marL="285750" indent="-285750">
              <a:buChar char="•"/>
            </a:pPr>
            <a:endParaRPr lang="en-US" b="1" dirty="0"/>
          </a:p>
          <a:p>
            <a:pPr marL="285750" indent="-285750">
              <a:buChar char="•"/>
            </a:pPr>
            <a:r>
              <a:rPr lang="en-US" b="1" dirty="0"/>
              <a:t>Asynchronous Message Passing:</a:t>
            </a:r>
            <a:r>
              <a:rPr lang="en-US" dirty="0"/>
              <a:t> The </a:t>
            </a:r>
            <a:r>
              <a:rPr lang="en-US" b="1" dirty="0"/>
              <a:t>Policy Audit Agent</a:t>
            </a:r>
            <a:r>
              <a:rPr lang="en-US" dirty="0"/>
              <a:t> automatically generates criteria metrics and passes them directly to the </a:t>
            </a:r>
            <a:r>
              <a:rPr lang="en-US" b="1" dirty="0"/>
              <a:t>Clinical Data Agent</a:t>
            </a:r>
            <a:r>
              <a:rPr lang="en-US" dirty="0"/>
              <a:t> to verify patient chart lines.</a:t>
            </a:r>
          </a:p>
          <a:p>
            <a:endParaRPr lang="en-US" b="1" dirty="0"/>
          </a:p>
          <a:p>
            <a:r>
              <a:rPr lang="en-US" b="1" dirty="0"/>
              <a:t>Factual Grounding &amp; Context-Anchoring</a:t>
            </a:r>
            <a:endParaRPr lang="en-US" dirty="0"/>
          </a:p>
          <a:p>
            <a:pPr marL="285750" indent="-285750">
              <a:buChar char="•"/>
            </a:pPr>
            <a:endParaRPr lang="en-US" b="1" dirty="0"/>
          </a:p>
          <a:p>
            <a:pPr marL="285750" indent="-285750">
              <a:buChar char="•"/>
            </a:pPr>
            <a:r>
              <a:rPr lang="en-US" b="1" dirty="0"/>
              <a:t>Deterministic RAG Pipelines:</a:t>
            </a:r>
            <a:r>
              <a:rPr lang="en-US" dirty="0"/>
              <a:t> Anchors all model generation directly to internal reference data (</a:t>
            </a:r>
            <a:r>
              <a:rPr lang="en-US" dirty="0">
                <a:latin typeface="Consolas"/>
              </a:rPr>
              <a:t>insurance_policies.txt</a:t>
            </a:r>
            <a:r>
              <a:rPr lang="en-US" dirty="0"/>
              <a:t>) to eliminate text hallucinations.</a:t>
            </a:r>
          </a:p>
          <a:p>
            <a:pPr marL="285750" indent="-285750">
              <a:buChar char="•"/>
            </a:pPr>
            <a:r>
              <a:rPr lang="en-US" b="1" dirty="0"/>
              <a:t>Factual Timeline Extraction:</a:t>
            </a:r>
            <a:r>
              <a:rPr lang="en-US" dirty="0"/>
              <a:t> Guarantees that the </a:t>
            </a:r>
            <a:r>
              <a:rPr lang="en-US" b="1" dirty="0"/>
              <a:t>Appeal Strategy Agent</a:t>
            </a:r>
            <a:r>
              <a:rPr lang="en-US" dirty="0"/>
              <a:t> only uses verified patient facts (e.g., verifying a 6-month therapy record) without fabricating regulatory codes.</a:t>
            </a:r>
          </a:p>
          <a:p>
            <a:endParaRPr lang="en-US" b="1" dirty="0"/>
          </a:p>
          <a:p>
            <a:r>
              <a:rPr lang="en-US" b="1" dirty="0"/>
              <a:t>Transparent Cognitive Reasoning</a:t>
            </a:r>
          </a:p>
          <a:p>
            <a:endParaRPr lang="en-US" b="1" dirty="0"/>
          </a:p>
          <a:p>
            <a:pPr marL="285750" indent="-285750">
              <a:buChar char="•"/>
            </a:pPr>
            <a:r>
              <a:rPr lang="en-US" b="1" dirty="0"/>
              <a:t>Live Thought Tracing:</a:t>
            </a:r>
            <a:r>
              <a:rPr lang="en-US" dirty="0"/>
              <a:t> Streams the underlying model decision tree directly into the dashboard console interface to reveal the inter-agent logic steps.</a:t>
            </a:r>
          </a:p>
          <a:p>
            <a:pPr marL="285750" indent="-285750">
              <a:buChar char="•"/>
            </a:pPr>
            <a:endParaRPr lang="en-US" b="1" dirty="0"/>
          </a:p>
          <a:p>
            <a:pPr marL="285750" indent="-285750">
              <a:buChar char="•"/>
            </a:pPr>
            <a:r>
              <a:rPr lang="en-US" b="1" dirty="0"/>
              <a:t>Hybrid Workflow Integration:</a:t>
            </a:r>
            <a:r>
              <a:rPr lang="en-US" dirty="0"/>
              <a:t> Simultaneously runs background batch processing loops over raw files while handling an interactive conversational workspace.</a:t>
            </a:r>
          </a:p>
          <a:p>
            <a:br>
              <a:rPr lang="en-US" dirty="0"/>
            </a:br>
            <a:endParaRPr lang="en-US" dirty="0"/>
          </a:p>
          <a:p>
            <a:endParaRPr lang="en-US" b="1" dirty="0"/>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513528" y="1079999"/>
            <a:ext cx="11163874" cy="530560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152535"/>
            <a:ext cx="10493347" cy="4992405"/>
          </a:xfrm>
          <a:prstGeom prst="rect">
            <a:avLst/>
          </a:prstGeom>
        </p:spPr>
      </p:pic>
      <p:sp>
        <p:nvSpPr>
          <p:cNvPr id="4" name="Rectangle 3">
            <a:extLst>
              <a:ext uri="{FF2B5EF4-FFF2-40B4-BE49-F238E27FC236}">
                <a16:creationId xmlns:a16="http://schemas.microsoft.com/office/drawing/2014/main" id="{BF92285D-D841-311C-627C-10D7A0913305}"/>
              </a:ext>
            </a:extLst>
          </p:cNvPr>
          <p:cNvSpPr/>
          <p:nvPr/>
        </p:nvSpPr>
        <p:spPr>
          <a:xfrm>
            <a:off x="2841774" y="5156594"/>
            <a:ext cx="5849182" cy="4601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cs typeface="Arial"/>
            </a:endParaRPr>
          </a:p>
        </p:txBody>
      </p:sp>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1252244"/>
            <a:ext cx="10583014" cy="5040580"/>
          </a:xfrm>
          <a:prstGeom prst="rect">
            <a:avLst/>
          </a:prstGeom>
        </p:spPr>
      </p:pic>
      <p:sp>
        <p:nvSpPr>
          <p:cNvPr id="3" name="Rectangle 2">
            <a:extLst>
              <a:ext uri="{FF2B5EF4-FFF2-40B4-BE49-F238E27FC236}">
                <a16:creationId xmlns:a16="http://schemas.microsoft.com/office/drawing/2014/main" id="{EE9196C6-772F-8BCE-AAC6-75988D7722A4}"/>
              </a:ext>
            </a:extLst>
          </p:cNvPr>
          <p:cNvSpPr/>
          <p:nvPr/>
        </p:nvSpPr>
        <p:spPr>
          <a:xfrm>
            <a:off x="3395795" y="1507479"/>
            <a:ext cx="1840711" cy="2697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5E72-9048-00C3-9746-4DB5E3BBE605}"/>
              </a:ext>
            </a:extLst>
          </p:cNvPr>
          <p:cNvSpPr>
            <a:spLocks noGrp="1"/>
          </p:cNvSpPr>
          <p:nvPr>
            <p:ph type="title"/>
          </p:nvPr>
        </p:nvSpPr>
        <p:spPr>
          <a:xfrm>
            <a:off x="462420" y="-334244"/>
            <a:ext cx="10891380" cy="2045808"/>
          </a:xfrm>
        </p:spPr>
        <p:txBody>
          <a:bodyPr/>
          <a:lstStyle/>
          <a:p>
            <a:r>
              <a:rPr lang="en-US" sz="2400" b="1" dirty="0">
                <a:latin typeface="Arial"/>
                <a:cs typeface="Arial"/>
              </a:rPr>
              <a:t>Project Output Screenshot</a:t>
            </a:r>
            <a:endParaRPr lang="en-US" dirty="0"/>
          </a:p>
        </p:txBody>
      </p:sp>
      <p:pic>
        <p:nvPicPr>
          <p:cNvPr id="4" name="Picture 3">
            <a:extLst>
              <a:ext uri="{FF2B5EF4-FFF2-40B4-BE49-F238E27FC236}">
                <a16:creationId xmlns:a16="http://schemas.microsoft.com/office/drawing/2014/main" id="{331CA36F-8044-ED70-23A0-EE65C65AD15A}"/>
              </a:ext>
            </a:extLst>
          </p:cNvPr>
          <p:cNvPicPr>
            <a:picLocks noChangeAspect="1"/>
          </p:cNvPicPr>
          <p:nvPr/>
        </p:nvPicPr>
        <p:blipFill>
          <a:blip r:embed="rId2"/>
          <a:stretch>
            <a:fillRect/>
          </a:stretch>
        </p:blipFill>
        <p:spPr>
          <a:xfrm>
            <a:off x="1064711" y="1234439"/>
            <a:ext cx="10062576" cy="4942358"/>
          </a:xfrm>
          <a:prstGeom prst="rect">
            <a:avLst/>
          </a:prstGeom>
        </p:spPr>
      </p:pic>
    </p:spTree>
    <p:extLst>
      <p:ext uri="{BB962C8B-B14F-4D97-AF65-F5344CB8AC3E}">
        <p14:creationId xmlns:p14="http://schemas.microsoft.com/office/powerpoint/2010/main" val="3235509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6124754"/>
          </a:xfrm>
          <a:prstGeom prst="rect">
            <a:avLst/>
          </a:prstGeom>
          <a:noFill/>
        </p:spPr>
        <p:txBody>
          <a:bodyPr wrap="square" lIns="91440" tIns="45720" rIns="91440" bIns="45720" rtlCol="0" anchor="t">
            <a:spAutoFit/>
          </a:bodyPr>
          <a:lstStyle/>
          <a:p>
            <a:pPr marL="285750" indent="-285750">
              <a:buChar char="•"/>
            </a:pPr>
            <a:r>
              <a:rPr lang="en-IN" b="1" dirty="0"/>
              <a:t>Title:</a:t>
            </a:r>
            <a:r>
              <a:rPr lang="en-IN" dirty="0"/>
              <a:t> </a:t>
            </a:r>
            <a:r>
              <a:rPr lang="en-IN" dirty="0">
                <a:latin typeface="Consolas"/>
              </a:rPr>
              <a:t>Project Uniqueness &amp; Innovation Matrix</a:t>
            </a:r>
          </a:p>
          <a:p>
            <a:pPr marL="285750" indent="-285750">
              <a:buChar char="•"/>
            </a:pPr>
            <a:endParaRPr lang="en-IN" dirty="0">
              <a:latin typeface="Consolas"/>
            </a:endParaRPr>
          </a:p>
          <a:p>
            <a:pPr marL="285750" indent="-285750">
              <a:buChar char="•"/>
            </a:pPr>
            <a:endParaRPr lang="en-IN" dirty="0">
              <a:latin typeface="Consolas"/>
            </a:endParaRPr>
          </a:p>
          <a:p>
            <a:pPr marL="285750" lvl="1" indent="-285750">
              <a:buChar char="•"/>
            </a:pPr>
            <a:r>
              <a:rPr lang="en-IN" b="1" dirty="0"/>
              <a:t>Human-in-the-Loop Operational Volume:</a:t>
            </a:r>
            <a:r>
              <a:rPr lang="en-IN" dirty="0"/>
              <a:t> Moves beyond static text prompts into a stateful, interactive workspace allowing manual overrides and real-time database inputs.</a:t>
            </a:r>
          </a:p>
          <a:p>
            <a:pPr marL="285750" lvl="1" indent="-285750">
              <a:buChar char="•"/>
            </a:pPr>
            <a:endParaRPr lang="en-IN" b="1" dirty="0"/>
          </a:p>
          <a:p>
            <a:pPr marL="285750" lvl="1" indent="-285750">
              <a:buChar char="•"/>
            </a:pPr>
            <a:r>
              <a:rPr lang="en-IN" b="1" dirty="0"/>
              <a:t>Multi-Agent Thought Tracing Console:</a:t>
            </a:r>
            <a:r>
              <a:rPr lang="en-IN" dirty="0"/>
              <a:t> Elevates user trust by displaying animated terminal logs detailing how individual agent boundaries interact behind the scenes.</a:t>
            </a:r>
          </a:p>
          <a:p>
            <a:pPr marL="285750" lvl="1" indent="-285750">
              <a:buChar char="•"/>
            </a:pPr>
            <a:endParaRPr lang="en-IN" b="1" dirty="0"/>
          </a:p>
          <a:p>
            <a:pPr marL="285750" lvl="1" indent="-285750">
              <a:buChar char="•"/>
            </a:pPr>
            <a:r>
              <a:rPr lang="en-IN" b="1" dirty="0"/>
              <a:t>Native IBM Orchestrate Readiness:</a:t>
            </a:r>
            <a:r>
              <a:rPr lang="en-IN" dirty="0"/>
              <a:t> Houses an embedded OpenAPI JSON skill schema mapping, allowing the entire pipeline to deploy as a corporate automation asset.</a:t>
            </a:r>
          </a:p>
          <a:p>
            <a:pPr marL="285750" lvl="1" indent="-285750">
              <a:buChar char="•"/>
            </a:pPr>
            <a:endParaRPr lang="en-IN" b="1" dirty="0"/>
          </a:p>
          <a:p>
            <a:pPr marL="285750" lvl="1" indent="-285750">
              <a:buChar char="•"/>
            </a:pPr>
            <a:r>
              <a:rPr lang="en-IN" b="1" dirty="0"/>
              <a:t>Production-Grade Output Utility:</a:t>
            </a:r>
            <a:r>
              <a:rPr lang="en-IN" dirty="0"/>
              <a:t> Implements direct JavaScript print-frame hooks, enabling instant one-click </a:t>
            </a:r>
            <a:r>
              <a:rPr lang="en-IN" b="1" dirty="0"/>
              <a:t>PDF document generation</a:t>
            </a:r>
            <a:r>
              <a:rPr lang="en-IN" dirty="0"/>
              <a:t> for physical submission to insurers.</a:t>
            </a:r>
          </a:p>
          <a:p>
            <a:pPr marL="285750" indent="-285750">
              <a:buChar char="•"/>
            </a:pPr>
            <a:endParaRPr lang="en-US" b="1" dirty="0"/>
          </a:p>
          <a:p>
            <a:pPr marL="285750" indent="-285750">
              <a:buChar char="•"/>
            </a:pPr>
            <a:r>
              <a:rPr lang="en-US" b="1" dirty="0"/>
              <a:t>Bidirectional Interactive Core Framework:</a:t>
            </a:r>
            <a:r>
              <a:rPr lang="en-US" dirty="0"/>
              <a:t> Transitions the platform from a linear processing model into an interactive sandbox environment. Users can chat directly with the </a:t>
            </a:r>
            <a:r>
              <a:rPr lang="en-US" b="1" dirty="0"/>
              <a:t>IBM Granite cognitive layer</a:t>
            </a:r>
            <a:r>
              <a:rPr lang="en-US" dirty="0"/>
              <a:t> to query insurance policy configurations on the fly.</a:t>
            </a:r>
          </a:p>
          <a:p>
            <a:pPr marL="285750" indent="-285750">
              <a:buChar char="•"/>
            </a:pPr>
            <a:endParaRPr lang="en-US" dirty="0"/>
          </a:p>
          <a:p>
            <a:pPr marL="285750" indent="-285750">
              <a:buChar char="•"/>
            </a:pPr>
            <a:r>
              <a:rPr lang="en-US" b="1" dirty="0"/>
              <a:t>Context-Aware Guardrails Integration:</a:t>
            </a:r>
            <a:r>
              <a:rPr lang="en-US" dirty="0"/>
              <a:t> The chat playground intercepts input phrases, anchoring response properties strictly to the internal structured data documents (</a:t>
            </a:r>
            <a:r>
              <a:rPr lang="en-US" dirty="0">
                <a:latin typeface="Consolas"/>
              </a:rPr>
              <a:t>insurance_policies.txt</a:t>
            </a:r>
            <a:r>
              <a:rPr lang="en-US" dirty="0"/>
              <a:t>) to block hallucinations.</a:t>
            </a:r>
          </a:p>
          <a:p>
            <a:pPr marL="285750" indent="-285750">
              <a:buChar char="•"/>
            </a:pPr>
            <a:endParaRPr lang="en-US" b="1" dirty="0"/>
          </a:p>
          <a:p>
            <a:pPr marL="285750" indent="-285750">
              <a:buChar char="•"/>
            </a:pPr>
            <a:r>
              <a:rPr lang="en-US" b="1" dirty="0"/>
              <a:t>Asynchronous Interface Elements:</a:t>
            </a:r>
            <a:r>
              <a:rPr lang="en-US" dirty="0"/>
              <a:t> Employs optimized client-side JavaScript streaming components, allowing operators to run heavy batch operations while concurrently engaging the conversational chat frame smoothly without thread freezes.</a:t>
            </a:r>
          </a:p>
          <a:p>
            <a:br>
              <a:rPr lang="en-US" dirty="0"/>
            </a:br>
            <a:endParaRPr lang="en-US" dirty="0"/>
          </a:p>
          <a:p>
            <a:pPr lvl="1"/>
            <a:br>
              <a:rPr lang="en-US" dirty="0"/>
            </a:br>
            <a:endParaRPr lang="en-US"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258376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400" dirty="0">
                <a:solidFill>
                  <a:srgbClr val="2B3541"/>
                </a:solidFill>
                <a:ea typeface="Times New Roman"/>
                <a:sym typeface="Times New Roman"/>
              </a:rPr>
              <a:t>https://github.com/ankitgupta-spec/medical-insurance-denial-agent</a:t>
            </a:r>
            <a:endParaRPr lang="en-US" sz="2400" b="0" i="0" u="none" strike="noStrike" cap="none">
              <a:solidFill>
                <a:srgbClr val="2B3541"/>
              </a:solidFill>
              <a:latin typeface="Times New Roman"/>
              <a:ea typeface="Times New Roman"/>
              <a:cs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solidFill>
                  <a:srgbClr val="2B3541"/>
                </a:solidFill>
              </a:rPr>
              <a:t>Future Scope &amp; Advanced AI Cloud Scalability</a:t>
            </a:r>
          </a:p>
          <a:p>
            <a:endParaRPr lang="en-US" sz="2000" b="1" dirty="0">
              <a:solidFill>
                <a:srgbClr val="2B3541"/>
              </a:solidFill>
            </a:endParaRPr>
          </a:p>
          <a:p>
            <a:pPr marL="285750" indent="-285750">
              <a:buFont typeface="Arial"/>
              <a:buChar char="•"/>
            </a:pPr>
            <a:r>
              <a:rPr lang="en-US" sz="2000" b="1" dirty="0">
                <a:solidFill>
                  <a:srgbClr val="2B3541"/>
                </a:solidFill>
              </a:rPr>
              <a:t>EHR Cloud Ingestion Pipelines:</a:t>
            </a:r>
            <a:r>
              <a:rPr lang="en-US" sz="2000" dirty="0">
                <a:solidFill>
                  <a:srgbClr val="2B3541"/>
                </a:solidFill>
              </a:rPr>
              <a:t> Scaling the application infrastructure away from static local databases (</a:t>
            </a:r>
            <a:r>
              <a:rPr lang="en-US" sz="2000" dirty="0">
                <a:solidFill>
                  <a:srgbClr val="2B3541"/>
                </a:solidFill>
                <a:latin typeface="Consolas"/>
                <a:cs typeface="Times New Roman"/>
              </a:rPr>
              <a:t>.csv</a:t>
            </a:r>
            <a:r>
              <a:rPr lang="en-US" sz="2000" dirty="0">
                <a:solidFill>
                  <a:srgbClr val="2B3541"/>
                </a:solidFill>
              </a:rPr>
              <a:t> records) into secure cloud environments by utilizing encrypted </a:t>
            </a:r>
            <a:r>
              <a:rPr lang="en-US" sz="2000" b="1" dirty="0">
                <a:solidFill>
                  <a:srgbClr val="2B3541"/>
                </a:solidFill>
              </a:rPr>
              <a:t>IBM Cloud Object Storage</a:t>
            </a:r>
            <a:r>
              <a:rPr lang="en-US" sz="2000" dirty="0">
                <a:solidFill>
                  <a:srgbClr val="2B3541"/>
                </a:solidFill>
              </a:rPr>
              <a:t> hooks coupled with live </a:t>
            </a:r>
            <a:r>
              <a:rPr lang="en-US" sz="2000" b="1" dirty="0">
                <a:solidFill>
                  <a:srgbClr val="2B3541"/>
                </a:solidFill>
              </a:rPr>
              <a:t>FHIR/HL7 hospital database protocols</a:t>
            </a:r>
            <a:r>
              <a:rPr lang="en-US" sz="2000" dirty="0">
                <a:solidFill>
                  <a:srgbClr val="2B3541"/>
                </a:solidFill>
              </a:rPr>
              <a:t>.</a:t>
            </a:r>
          </a:p>
          <a:p>
            <a:pPr marL="285750" indent="-285750">
              <a:buFont typeface="Arial"/>
              <a:buChar char="•"/>
            </a:pPr>
            <a:endParaRPr lang="en-US" sz="2000" dirty="0">
              <a:solidFill>
                <a:srgbClr val="2B3541"/>
              </a:solidFill>
            </a:endParaRPr>
          </a:p>
          <a:p>
            <a:pPr marL="285750" indent="-285750">
              <a:buFont typeface="Arial"/>
              <a:buChar char="•"/>
            </a:pPr>
            <a:r>
              <a:rPr lang="en-US" sz="2000" b="1" dirty="0">
                <a:solidFill>
                  <a:srgbClr val="2B3541"/>
                </a:solidFill>
              </a:rPr>
              <a:t>Automated Cross-Agent Federated Learning:</a:t>
            </a:r>
            <a:r>
              <a:rPr lang="en-US" sz="2000" dirty="0">
                <a:solidFill>
                  <a:srgbClr val="2B3541"/>
                </a:solidFill>
              </a:rPr>
              <a:t> Implementing dynamic task validation triggers where the </a:t>
            </a:r>
            <a:r>
              <a:rPr lang="en-US" sz="2000" b="1" dirty="0">
                <a:solidFill>
                  <a:srgbClr val="2B3541"/>
                </a:solidFill>
              </a:rPr>
              <a:t>Success Predictor Agent</a:t>
            </a:r>
            <a:r>
              <a:rPr lang="en-US" sz="2000" dirty="0">
                <a:solidFill>
                  <a:srgbClr val="2B3541"/>
                </a:solidFill>
              </a:rPr>
              <a:t> learns from real-world claim outcome parameters, progressively tuning internal prompt weights to refine approval forecast accuracy automatically.</a:t>
            </a:r>
            <a:endParaRPr lang="en-US" sz="2000" dirty="0"/>
          </a:p>
          <a:p>
            <a:pPr marL="285750" indent="-285750">
              <a:buFont typeface="Arial"/>
              <a:buChar char="•"/>
            </a:pPr>
            <a:endParaRPr lang="en-US" sz="2000" b="1" dirty="0">
              <a:solidFill>
                <a:srgbClr val="2B3541"/>
              </a:solidFill>
            </a:endParaRPr>
          </a:p>
          <a:p>
            <a:pPr marL="285750" indent="-285750">
              <a:buFont typeface="Arial"/>
              <a:buChar char="•"/>
            </a:pPr>
            <a:r>
              <a:rPr lang="en-US" sz="2000" b="1" dirty="0" err="1">
                <a:solidFill>
                  <a:srgbClr val="2B3541"/>
                </a:solidFill>
              </a:rPr>
              <a:t>watsonx</a:t>
            </a:r>
            <a:r>
              <a:rPr lang="en-US" sz="2000" b="1" dirty="0">
                <a:solidFill>
                  <a:srgbClr val="2B3541"/>
                </a:solidFill>
              </a:rPr>
              <a:t> Governance Expansion:</a:t>
            </a:r>
            <a:r>
              <a:rPr lang="en-US" sz="2000" dirty="0">
                <a:solidFill>
                  <a:srgbClr val="2B3541"/>
                </a:solidFill>
              </a:rPr>
              <a:t> Integrating automated </a:t>
            </a:r>
            <a:r>
              <a:rPr lang="en-US" sz="2000" b="1" dirty="0">
                <a:solidFill>
                  <a:srgbClr val="2B3541"/>
                </a:solidFill>
              </a:rPr>
              <a:t>Granite Guardian</a:t>
            </a:r>
            <a:r>
              <a:rPr lang="en-US" sz="2000" dirty="0">
                <a:solidFill>
                  <a:srgbClr val="2B3541"/>
                </a:solidFill>
              </a:rPr>
              <a:t> security filters to verify compliance criteria on unstructured doctor dictation files, automatically blacking out sensitive patient data fields during public transmission.</a:t>
            </a:r>
            <a:endParaRPr lang="en-US" sz="2000"/>
          </a:p>
          <a:p>
            <a:br>
              <a:rPr lang="en-US" dirty="0"/>
            </a:br>
            <a:endParaRPr lang="en-US" sz="2000"/>
          </a:p>
          <a:p>
            <a:pPr marL="0" marR="0" lvl="0" indent="0" algn="l">
              <a:lnSpc>
                <a:spcPct val="162162"/>
              </a:lnSpc>
              <a:spcBef>
                <a:spcPts val="0"/>
              </a:spcBef>
              <a:spcAft>
                <a:spcPts val="0"/>
              </a:spcAft>
              <a:buSzPts val="1850"/>
              <a:buFont typeface="Times New Roman"/>
              <a:buNone/>
            </a:pPr>
            <a:endParaRPr lang="en-US" sz="2000" b="1" i="0" u="none" strike="noStrike" cap="none" dirty="0">
              <a:solidFill>
                <a:srgbClr val="2B3541"/>
              </a:solidFill>
              <a:latin typeface="Times New Roman"/>
              <a:ea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2151916" y="1169054"/>
            <a:ext cx="5991622"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369" r="2369"/>
          <a:stretch>
            <a:fillRect/>
          </a:stretch>
        </p:blipFill>
        <p:spPr>
          <a:xfrm>
            <a:off x="2114151" y="11030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14</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Output Screenshot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258</cp:revision>
  <dcterms:created xsi:type="dcterms:W3CDTF">2025-07-08T05:06:56Z</dcterms:created>
  <dcterms:modified xsi:type="dcterms:W3CDTF">2026-09-10T04:37:07Z</dcterms:modified>
</cp:coreProperties>
</file>